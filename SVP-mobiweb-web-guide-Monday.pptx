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9" r:id="rId4"/>
    <p:sldId id="265" r:id="rId5"/>
    <p:sldId id="261" r:id="rId6"/>
    <p:sldId id="270" r:id="rId7"/>
    <p:sldId id="267" r:id="rId8"/>
    <p:sldId id="271" r:id="rId9"/>
    <p:sldId id="268" r:id="rId10"/>
    <p:sldId id="27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3"/>
    <p:restoredTop sz="94658"/>
  </p:normalViewPr>
  <p:slideViewPr>
    <p:cSldViewPr snapToGrid="0">
      <p:cViewPr varScale="1">
        <p:scale>
          <a:sx n="97" d="100"/>
          <a:sy n="97" d="100"/>
        </p:scale>
        <p:origin x="77" y="8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063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Corbel" panose="020B0503020204020204" pitchFamily="34" charset="0"/>
              </a:defRPr>
            </a:lvl1pPr>
            <a:lvl2pPr>
              <a:defRPr b="0" i="0">
                <a:latin typeface="Corbel" panose="020B0503020204020204" pitchFamily="34" charset="0"/>
              </a:defRPr>
            </a:lvl2pPr>
            <a:lvl3pPr>
              <a:defRPr b="0" i="0">
                <a:latin typeface="Corbel" panose="020B0503020204020204" pitchFamily="34" charset="0"/>
              </a:defRPr>
            </a:lvl3pPr>
            <a:lvl4pPr>
              <a:defRPr b="0" i="0">
                <a:latin typeface="Corbel" panose="020B0503020204020204" pitchFamily="34" charset="0"/>
              </a:defRPr>
            </a:lvl4pPr>
            <a:lvl5pPr>
              <a:defRPr b="0" i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0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86975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66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5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3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25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64731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6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3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5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BA68BF7-7197-B04D-ADD6-A4F729BF548A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CEC1619-ECFE-A840-A182-288E83CEAD1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5219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b="0" i="0" kern="1200">
          <a:solidFill>
            <a:schemeClr val="tx1">
              <a:lumMod val="65000"/>
              <a:lumOff val="35000"/>
            </a:schemeClr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b="0" i="0" kern="1200">
          <a:solidFill>
            <a:schemeClr val="tx1">
              <a:lumMod val="65000"/>
              <a:lumOff val="35000"/>
            </a:schemeClr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B9D6-D5A8-A0C6-5A5E-BE96D74107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200" dirty="0"/>
              <a:t>A 'Touch' of Website 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9D2ADC-9F3E-7305-080A-40232C20B9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Just the basics, please</a:t>
            </a:r>
          </a:p>
        </p:txBody>
      </p:sp>
    </p:spTree>
    <p:extLst>
      <p:ext uri="{BB962C8B-B14F-4D97-AF65-F5344CB8AC3E}">
        <p14:creationId xmlns:p14="http://schemas.microsoft.com/office/powerpoint/2010/main" val="300908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BC78-A9D3-D762-EC1B-612663889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741336"/>
          </a:xfrm>
        </p:spPr>
        <p:txBody>
          <a:bodyPr>
            <a:normAutofit fontScale="90000"/>
          </a:bodyPr>
          <a:lstStyle/>
          <a:p>
            <a:r>
              <a:rPr lang="en-US" dirty="0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0BD4D-1938-6BE0-614A-45EF53979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108" y="2985571"/>
            <a:ext cx="9838063" cy="3349128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2800" dirty="0"/>
              <a:t>In a short time you will get a feel for constructing a webpage.</a:t>
            </a:r>
          </a:p>
          <a:p>
            <a:pPr marL="0" indent="0" algn="ctr">
              <a:spcBef>
                <a:spcPts val="2000"/>
              </a:spcBef>
              <a:buNone/>
            </a:pPr>
            <a:r>
              <a:rPr lang="en-US" sz="2800" dirty="0"/>
              <a:t>You will be editing some HTML, the language used to layout webpages.</a:t>
            </a:r>
          </a:p>
          <a:p>
            <a:pPr marL="0" indent="0" algn="ctr">
              <a:spcBef>
                <a:spcPts val="2000"/>
              </a:spcBef>
              <a:buNone/>
            </a:pPr>
            <a:r>
              <a:rPr lang="en-US" sz="2800" dirty="0"/>
              <a:t>This will </a:t>
            </a:r>
            <a:r>
              <a:rPr lang="en-US" sz="2800" dirty="0" err="1"/>
              <a:t>will</a:t>
            </a:r>
            <a:r>
              <a:rPr lang="en-US" sz="2800" dirty="0"/>
              <a:t> be a </a:t>
            </a:r>
            <a:r>
              <a:rPr lang="en-US" sz="2800" i="1" dirty="0"/>
              <a:t>magical experience!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19156C-5A23-C7B5-2E2D-4AE2597D467D}"/>
              </a:ext>
            </a:extLst>
          </p:cNvPr>
          <p:cNvSpPr txBox="1">
            <a:spLocks/>
          </p:cNvSpPr>
          <p:nvPr/>
        </p:nvSpPr>
        <p:spPr>
          <a:xfrm>
            <a:off x="1251678" y="1153566"/>
            <a:ext cx="10178322" cy="7413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Sit in your seats.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4A00B8-9C99-35D9-0972-A3D772B34EFA}"/>
              </a:ext>
            </a:extLst>
          </p:cNvPr>
          <p:cNvSpPr txBox="1">
            <a:spLocks/>
          </p:cNvSpPr>
          <p:nvPr/>
        </p:nvSpPr>
        <p:spPr>
          <a:xfrm>
            <a:off x="1251678" y="2034914"/>
            <a:ext cx="10178322" cy="7413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Start your computers.</a:t>
            </a:r>
          </a:p>
        </p:txBody>
      </p:sp>
    </p:spTree>
    <p:extLst>
      <p:ext uri="{BB962C8B-B14F-4D97-AF65-F5344CB8AC3E}">
        <p14:creationId xmlns:p14="http://schemas.microsoft.com/office/powerpoint/2010/main" val="270305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2D090-1BF7-48FA-0C70-6DA6737A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60825"/>
          </a:xfrm>
        </p:spPr>
        <p:txBody>
          <a:bodyPr/>
          <a:lstStyle/>
          <a:p>
            <a:pPr algn="ctr"/>
            <a:r>
              <a:rPr lang="en-US" dirty="0"/>
              <a:t>Here we go...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308F60-B859-86A9-DCAA-236649800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586429"/>
            <a:ext cx="6801651" cy="488918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Launch Visual Studio Code (VSC). </a:t>
            </a:r>
            <a:br>
              <a:rPr lang="en-US" sz="2800" dirty="0"/>
            </a:br>
            <a:r>
              <a:rPr lang="en-US" sz="2800" dirty="0"/>
              <a:t>(It may already be open...)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Open a browser window (Edge is fine).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Open the folder " SVP-LLM-Web" on the desktop.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Drag the </a:t>
            </a:r>
            <a:r>
              <a:rPr lang="en-US" sz="2800" i="1" dirty="0" err="1"/>
              <a:t>index.html</a:t>
            </a:r>
            <a:r>
              <a:rPr lang="en-US" sz="2800" i="1" dirty="0"/>
              <a:t> </a:t>
            </a:r>
            <a:r>
              <a:rPr lang="en-US" sz="2800" dirty="0"/>
              <a:t>file into the main VSC window.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/>
              <a:t>Drag the same file from the SVP-LLM-Web folder into the browser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3A31D-503F-61B6-0914-2276E6F7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081" y="657301"/>
            <a:ext cx="2722105" cy="5543397"/>
          </a:xfrm>
          <a:prstGeom prst="rect">
            <a:avLst/>
          </a:prstGeom>
          <a:effectLst>
            <a:outerShdw blurRad="153461" dist="137926" dir="2700000" algn="tl" rotWithShape="0">
              <a:schemeClr val="bg1">
                <a:lumMod val="50000"/>
                <a:alpha val="40000"/>
              </a:scheme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D5249B-B554-CF3E-EE26-56A3C3FE7A0D}"/>
              </a:ext>
            </a:extLst>
          </p:cNvPr>
          <p:cNvSpPr txBox="1"/>
          <p:nvPr/>
        </p:nvSpPr>
        <p:spPr>
          <a:xfrm>
            <a:off x="9244105" y="6306337"/>
            <a:ext cx="1892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Corbel" panose="020B0503020204020204" pitchFamily="34" charset="0"/>
              </a:rPr>
              <a:t>SVP-LLM-Web folder</a:t>
            </a:r>
          </a:p>
        </p:txBody>
      </p:sp>
    </p:spTree>
    <p:extLst>
      <p:ext uri="{BB962C8B-B14F-4D97-AF65-F5344CB8AC3E}">
        <p14:creationId xmlns:p14="http://schemas.microsoft.com/office/powerpoint/2010/main" val="178970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2D090-1BF7-48FA-0C70-6DA6737A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60825"/>
          </a:xfrm>
        </p:spPr>
        <p:txBody>
          <a:bodyPr/>
          <a:lstStyle/>
          <a:p>
            <a:pPr algn="ctr"/>
            <a:r>
              <a:rPr lang="en-US" dirty="0"/>
              <a:t>Keep going...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308F60-B859-86A9-DCAA-236649800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718631"/>
            <a:ext cx="5303358" cy="4756984"/>
          </a:xfrm>
        </p:spPr>
        <p:txBody>
          <a:bodyPr>
            <a:noAutofit/>
          </a:bodyPr>
          <a:lstStyle/>
          <a:p>
            <a:r>
              <a:rPr lang="en-US" sz="2800" dirty="0"/>
              <a:t>In the browser is a plain, boring,  </a:t>
            </a:r>
            <a:br>
              <a:rPr lang="en-US" sz="2800" dirty="0"/>
            </a:br>
            <a:r>
              <a:rPr lang="en-US" sz="2800" dirty="0"/>
              <a:t>"AI chatbot". You can give it a question and the AI will give you an answer.  </a:t>
            </a:r>
            <a:r>
              <a:rPr lang="en-US" sz="2800" i="1" dirty="0"/>
              <a:t>Give that a try - </a:t>
            </a:r>
            <a:r>
              <a:rPr lang="en-US" sz="2800" i="1" u="sng" dirty="0"/>
              <a:t>later</a:t>
            </a:r>
            <a:r>
              <a:rPr lang="en-US" sz="2800" i="1" dirty="0"/>
              <a:t>.</a:t>
            </a:r>
            <a:endParaRPr lang="en-US" sz="2800" dirty="0"/>
          </a:p>
          <a:p>
            <a:pPr>
              <a:spcBef>
                <a:spcPts val="2000"/>
              </a:spcBef>
            </a:pPr>
            <a:r>
              <a:rPr lang="en-US" sz="2800" dirty="0"/>
              <a:t>Let's first make this page more interesting!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5BB9D0-276C-72CB-31B5-818ACC29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424" y="2946210"/>
            <a:ext cx="5038470" cy="324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1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11007"/>
            <a:ext cx="5964369" cy="5277080"/>
          </a:xfrm>
        </p:spPr>
        <p:txBody>
          <a:bodyPr>
            <a:normAutofit/>
          </a:bodyPr>
          <a:lstStyle/>
          <a:p>
            <a:pPr marL="295275" indent="-295275">
              <a:buFont typeface="+mj-lt"/>
              <a:buAutoNum type="arabicPeriod"/>
            </a:pPr>
            <a:r>
              <a:rPr lang="en-US" sz="2600" dirty="0"/>
              <a:t>Find Task 1 in your manual and in code.</a:t>
            </a:r>
          </a:p>
          <a:p>
            <a:pPr marL="295275" indent="-295275">
              <a:buFont typeface="+mj-lt"/>
              <a:buAutoNum type="arabicPeriod"/>
            </a:pPr>
            <a:r>
              <a:rPr lang="en-US" sz="2600" dirty="0"/>
              <a:t>Let’s add instructions for the user to follow. Currently it’s just a blank orange page.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BE113-D4B5-677C-2525-BE40C1F05C7B}"/>
              </a:ext>
            </a:extLst>
          </p:cNvPr>
          <p:cNvSpPr txBox="1"/>
          <p:nvPr/>
        </p:nvSpPr>
        <p:spPr>
          <a:xfrm>
            <a:off x="1586428" y="3429000"/>
            <a:ext cx="5728772" cy="2396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&lt;div&gt;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&lt;ol&gt;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&lt;li&gt;Step 1: Click in the field at the bottom.&lt;/li&gt;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&lt;li&gt;Step 2: Type in a question.&lt;/li&gt;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	&lt;li&gt;Step 3: Press RETURN/Enter…Send&lt;/li&gt;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&lt;/ol&gt;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&lt;/div&gt;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B44C8-345B-5D4E-23F9-3ABB869D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3" y="3096031"/>
            <a:ext cx="4869456" cy="270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11007"/>
            <a:ext cx="5964369" cy="5277080"/>
          </a:xfrm>
        </p:spPr>
        <p:txBody>
          <a:bodyPr>
            <a:normAutofit/>
          </a:bodyPr>
          <a:lstStyle/>
          <a:p>
            <a:pPr marL="295275" indent="-295275">
              <a:buFont typeface="+mj-lt"/>
              <a:buAutoNum type="arabicPeriod"/>
            </a:pPr>
            <a:r>
              <a:rPr lang="en-US" sz="2600" dirty="0"/>
              <a:t>Change the page background color to "RIT orange". Search for "Task 2..." and add the 'class=' part to the &lt;body&gt; element as shown: </a:t>
            </a:r>
          </a:p>
          <a:p>
            <a:pPr marL="295275" indent="-295275">
              <a:buFont typeface="+mj-lt"/>
              <a:buAutoNum type="arabicPeriod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295275" indent="-295275">
              <a:buNone/>
            </a:pPr>
            <a:endParaRPr lang="en-US" sz="2200" dirty="0"/>
          </a:p>
          <a:p>
            <a:pPr marL="295275" indent="-295275">
              <a:buNone/>
            </a:pPr>
            <a:r>
              <a:rPr lang="en-US" sz="2800" dirty="0"/>
              <a:t>	</a:t>
            </a:r>
            <a:r>
              <a:rPr lang="en-US" sz="2600" dirty="0"/>
              <a:t>Save and refresh the browser. </a:t>
            </a:r>
            <a:br>
              <a:rPr lang="en-US" sz="2600" dirty="0"/>
            </a:br>
            <a:r>
              <a:rPr lang="en-US" sz="2600" dirty="0"/>
              <a:t>Better than gray!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BE113-D4B5-677C-2525-BE40C1F05C7B}"/>
              </a:ext>
            </a:extLst>
          </p:cNvPr>
          <p:cNvSpPr txBox="1"/>
          <p:nvPr/>
        </p:nvSpPr>
        <p:spPr>
          <a:xfrm>
            <a:off x="1586428" y="3429000"/>
            <a:ext cx="5629619" cy="73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&lt;body data-bs-theme="light"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class="body-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rit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-orange"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0B44C8-345B-5D4E-23F9-3ABB869D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3" y="2908453"/>
            <a:ext cx="4869456" cy="307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1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311007"/>
            <a:ext cx="5766066" cy="52770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Find Task 2 in your manual and in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Add the RIT Tiger Logo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DE0A4-9AD2-0F49-6353-FF9CFC3C8212}"/>
              </a:ext>
            </a:extLst>
          </p:cNvPr>
          <p:cNvSpPr txBox="1"/>
          <p:nvPr/>
        </p:nvSpPr>
        <p:spPr>
          <a:xfrm>
            <a:off x="1595263" y="3949547"/>
            <a:ext cx="5422482" cy="734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src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="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Roaring_Tiger_rgb.svg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 alt="RIT Tiger Spirit Mark" width="150"&gt;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154491-8D39-397D-4CBB-049A44EB7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3" y="3151833"/>
            <a:ext cx="4869456" cy="270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0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311007"/>
            <a:ext cx="5766066" cy="52770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600" dirty="0"/>
              <a:t>Add a background color gradient, </a:t>
            </a:r>
            <a:br>
              <a:rPr lang="en-US" sz="2600" dirty="0"/>
            </a:br>
            <a:r>
              <a:rPr lang="en-US" sz="2600" dirty="0"/>
              <a:t>that starts at the top of the page.</a:t>
            </a:r>
          </a:p>
          <a:p>
            <a:pPr marL="295275" indent="-285750">
              <a:spcBef>
                <a:spcPts val="1000"/>
              </a:spcBef>
              <a:buNone/>
            </a:pPr>
            <a:r>
              <a:rPr lang="en-US" sz="2600" dirty="0"/>
              <a:t>	Search for "Task 3..." and change the &lt;div&gt; element by adding '</a:t>
            </a:r>
            <a:r>
              <a:rPr lang="en-US" sz="2600" dirty="0" err="1"/>
              <a:t>bg</a:t>
            </a:r>
            <a:r>
              <a:rPr lang="en-US" sz="2600" dirty="0"/>
              <a:t>-grad-yellow-trans' as shown:</a:t>
            </a:r>
          </a:p>
          <a:p>
            <a:pPr marL="295275" indent="-295275">
              <a:buFont typeface="+mj-lt"/>
              <a:buAutoNum type="arabicPeriod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295275" indent="-295275">
              <a:buNone/>
            </a:pPr>
            <a:endParaRPr lang="en-US" sz="2200" dirty="0"/>
          </a:p>
          <a:p>
            <a:pPr marL="295275" indent="-295275">
              <a:buNone/>
            </a:pPr>
            <a:r>
              <a:rPr lang="en-US" sz="2200" dirty="0"/>
              <a:t>	</a:t>
            </a:r>
            <a:r>
              <a:rPr lang="en-US" sz="2600" dirty="0"/>
              <a:t>Save and refresh the browser. </a:t>
            </a:r>
            <a:br>
              <a:rPr lang="en-US" sz="2600" dirty="0"/>
            </a:br>
            <a:r>
              <a:rPr lang="en-US" sz="2600" dirty="0"/>
              <a:t>Even better!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DE0A4-9AD2-0F49-6353-FF9CFC3C8212}"/>
              </a:ext>
            </a:extLst>
          </p:cNvPr>
          <p:cNvSpPr txBox="1"/>
          <p:nvPr/>
        </p:nvSpPr>
        <p:spPr>
          <a:xfrm>
            <a:off x="1595263" y="3949547"/>
            <a:ext cx="5422482" cy="730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&lt;div class="position-fixed w-100 </a:t>
            </a:r>
            <a:b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fix-top 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bg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-grad-yellow-trans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154491-8D39-397D-4CBB-049A44EB7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93" y="3017732"/>
            <a:ext cx="4869456" cy="296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7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311007"/>
            <a:ext cx="5766066" cy="52770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Find Task 3 in the manual and in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Add some spacing after the prompt to make the page more professional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DE0A4-9AD2-0F49-6353-FF9CFC3C8212}"/>
              </a:ext>
            </a:extLst>
          </p:cNvPr>
          <p:cNvSpPr txBox="1"/>
          <p:nvPr/>
        </p:nvSpPr>
        <p:spPr>
          <a:xfrm>
            <a:off x="1653672" y="3523421"/>
            <a:ext cx="586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&lt;div class="container p-2 card mb-25" id="input-area"&gt;</a:t>
            </a:r>
            <a:endParaRPr lang="en-US" sz="1800" dirty="0">
              <a:solidFill>
                <a:schemeClr val="accent5">
                  <a:lumMod val="7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90F71-9529-24C3-7721-BD6A6189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745" y="3192345"/>
            <a:ext cx="4774950" cy="260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9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311007"/>
            <a:ext cx="5766066" cy="52770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Find Task 3 in the manual and in code.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Add some spacing after the prompt to make the page more professional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DE0A4-9AD2-0F49-6353-FF9CFC3C8212}"/>
              </a:ext>
            </a:extLst>
          </p:cNvPr>
          <p:cNvSpPr txBox="1"/>
          <p:nvPr/>
        </p:nvSpPr>
        <p:spPr>
          <a:xfrm>
            <a:off x="1653672" y="3523421"/>
            <a:ext cx="586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&lt;h1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class="</a:t>
            </a:r>
            <a:r>
              <a:rPr lang="en-US" sz="1800" b="1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orbitron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-fancy"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TigerGPT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&lt;/h1&gt;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E90F71-9529-24C3-7721-BD6A6189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85" y="3429000"/>
            <a:ext cx="4562132" cy="290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9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01F3-F16B-629E-E754-47034C3E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28622"/>
          </a:xfrm>
        </p:spPr>
        <p:txBody>
          <a:bodyPr/>
          <a:lstStyle/>
          <a:p>
            <a:pPr algn="ctr"/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5AFB-FBD4-2DE3-F2D3-5EA0B4B6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1311007"/>
            <a:ext cx="10448234" cy="2423711"/>
          </a:xfrm>
        </p:spPr>
        <p:txBody>
          <a:bodyPr>
            <a:normAutofit/>
          </a:bodyPr>
          <a:lstStyle/>
          <a:p>
            <a:r>
              <a:rPr lang="en-US" sz="2600" dirty="0"/>
              <a:t>Time is up. Go ahead and type a question into the </a:t>
            </a:r>
            <a:r>
              <a:rPr lang="en-US" sz="2600" dirty="0" err="1"/>
              <a:t>TigerChat</a:t>
            </a:r>
            <a:r>
              <a:rPr lang="en-US" sz="2600" dirty="0"/>
              <a:t> prompt.</a:t>
            </a:r>
          </a:p>
          <a:p>
            <a:pPr marL="295275" indent="-295275">
              <a:buNone/>
            </a:pPr>
            <a:r>
              <a:rPr lang="en-US" sz="2600" dirty="0"/>
              <a:t>	Example: </a:t>
            </a:r>
            <a:r>
              <a:rPr lang="en-US" sz="2600" i="1"/>
              <a:t>Write an </a:t>
            </a:r>
            <a:r>
              <a:rPr lang="en-US" sz="2600" i="1" dirty="0"/>
              <a:t>eight-line poem about the first year of college.</a:t>
            </a:r>
            <a:endParaRPr lang="en-US" sz="2600" dirty="0"/>
          </a:p>
          <a:p>
            <a:pPr marL="295275" indent="-295275">
              <a:buFont typeface="+mj-lt"/>
              <a:buAutoNum type="arabicPeriod"/>
            </a:pPr>
            <a:endParaRPr lang="en-US" sz="2600" dirty="0"/>
          </a:p>
          <a:p>
            <a:pPr marL="295275" indent="-285750">
              <a:spcBef>
                <a:spcPts val="1000"/>
              </a:spcBef>
              <a:buNone/>
            </a:pPr>
            <a:r>
              <a:rPr lang="en-US" sz="2600" dirty="0"/>
              <a:t>	Did you get a good answer?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AF900-7FBF-25BB-A786-7B9658BE64E5}"/>
              </a:ext>
            </a:extLst>
          </p:cNvPr>
          <p:cNvSpPr txBox="1"/>
          <p:nvPr/>
        </p:nvSpPr>
        <p:spPr>
          <a:xfrm>
            <a:off x="2733447" y="4183522"/>
            <a:ext cx="72147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orbel" panose="020B0503020204020204" pitchFamily="34" charset="0"/>
              </a:rPr>
              <a:t>Thanks for participating. </a:t>
            </a:r>
            <a:br>
              <a:rPr lang="en-US" sz="3200" dirty="0">
                <a:solidFill>
                  <a:schemeClr val="accent5">
                    <a:lumMod val="75000"/>
                  </a:schemeClr>
                </a:solidFill>
                <a:latin typeface="Corbel" panose="020B0503020204020204" pitchFamily="34" charset="0"/>
              </a:rPr>
            </a:b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orbel" panose="020B0503020204020204" pitchFamily="34" charset="0"/>
              </a:rPr>
              <a:t>Join us on Wednesday for an </a:t>
            </a:r>
            <a:r>
              <a:rPr lang="en-US" sz="3200" i="1" dirty="0">
                <a:solidFill>
                  <a:schemeClr val="accent5">
                    <a:lumMod val="75000"/>
                  </a:schemeClr>
                </a:solidFill>
                <a:latin typeface="Corbel" panose="020B0503020204020204" pitchFamily="34" charset="0"/>
              </a:rPr>
              <a:t>extended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orbel" panose="020B0503020204020204" pitchFamily="34" charset="0"/>
              </a:rPr>
              <a:t> web development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125460658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1183</TotalTime>
  <Words>544</Words>
  <Application>Microsoft Office PowerPoint</Application>
  <PresentationFormat>Widescreen</PresentationFormat>
  <Paragraphs>61</Paragraphs>
  <Slides>11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Corbel</vt:lpstr>
      <vt:lpstr>Gill Sans MT</vt:lpstr>
      <vt:lpstr>Impact</vt:lpstr>
      <vt:lpstr>Menlo</vt:lpstr>
      <vt:lpstr>Badge</vt:lpstr>
      <vt:lpstr>A 'Touch' of Website Development</vt:lpstr>
      <vt:lpstr>Welcome!</vt:lpstr>
      <vt:lpstr>Here we go...</vt:lpstr>
      <vt:lpstr>Keep going...</vt:lpstr>
      <vt:lpstr>Step 1</vt:lpstr>
      <vt:lpstr>Step 1</vt:lpstr>
      <vt:lpstr>Step 2</vt:lpstr>
      <vt:lpstr>Step 2</vt:lpstr>
      <vt:lpstr>Step 3</vt:lpstr>
      <vt:lpstr>Step 3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'Touch' of Website Development</dc:title>
  <dc:creator>Walter Bubie</dc:creator>
  <cp:lastModifiedBy>Michael Berrios</cp:lastModifiedBy>
  <cp:revision>13</cp:revision>
  <dcterms:created xsi:type="dcterms:W3CDTF">2024-08-16T04:09:40Z</dcterms:created>
  <dcterms:modified xsi:type="dcterms:W3CDTF">2025-08-18T12:19:34Z</dcterms:modified>
</cp:coreProperties>
</file>